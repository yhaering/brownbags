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</p:sldIdLst>
  <p:sldSz cx="12192000" cy="6858000"/>
  <p:notesSz cx="6858000" cy="9144000"/>
  <p:embeddedFontLst>
    <p:embeddedFont>
      <p:font typeface="JetBrains Mono" panose="020B0604020202020204" charset="0"/>
      <p:regular r:id="rId25"/>
      <p:bold r:id="rId26"/>
      <p:italic r:id="rId27"/>
      <p:boldItalic r:id="rId2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C47"/>
    <a:srgbClr val="282C34"/>
    <a:srgbClr val="292D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8936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618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785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4604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16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7156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61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991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72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212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6730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594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Module Resolution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</a:t>
            </a:r>
            <a:r>
              <a:rPr lang="de-DE" dirty="0"/>
              <a:t> </a:t>
            </a:r>
            <a:r>
              <a:rPr lang="de-DE" dirty="0" err="1"/>
              <a:t>modules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installed</a:t>
            </a:r>
            <a:r>
              <a:rPr lang="de-DE" dirty="0"/>
              <a:t> and </a:t>
            </a:r>
            <a:r>
              <a:rPr lang="de-DE" dirty="0" err="1"/>
              <a:t>resolved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47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6092F-E35C-402C-9622-E0E5C450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package.json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6AD1AD1-63C0-4B75-A3F9-130DCE354F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11510" y="2365646"/>
            <a:ext cx="3768980" cy="3139321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"main"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dist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/index.js"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"react"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"^16.8.0"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devDependencies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eslint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"^7.16.0"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6092F-E35C-402C-9622-E0E5C450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Types</a:t>
            </a:r>
            <a:endParaRPr lang="en-US" dirty="0"/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7F52721C-EC50-434F-BDAA-2E4EDE98E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7800699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805431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188373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89711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313372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09224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tx1"/>
                          </a:solidFill>
                        </a:rPr>
                        <a:t>dependencies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3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tx1"/>
                          </a:solidFill>
                        </a:rPr>
                        <a:t>devDependencies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3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tx1"/>
                          </a:solidFill>
                        </a:rPr>
                        <a:t>peerDependencies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3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tx1"/>
                          </a:solidFill>
                        </a:rPr>
                        <a:t>optionalDependencies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3C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298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sz="1200" dirty="0" err="1"/>
                        <a:t>production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33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sz="1200" dirty="0" err="1"/>
                        <a:t>resolved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by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consumer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7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sz="1200" dirty="0" err="1"/>
                        <a:t>required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C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572662"/>
                  </a:ext>
                </a:extLst>
              </a:tr>
            </a:tbl>
          </a:graphicData>
        </a:graphic>
      </p:graphicFrame>
      <p:pic>
        <p:nvPicPr>
          <p:cNvPr id="6" name="Grafik 5" descr="Häkchen mit einfarbiger Füllung">
            <a:extLst>
              <a:ext uri="{FF2B5EF4-FFF2-40B4-BE49-F238E27FC236}">
                <a16:creationId xmlns:a16="http://schemas.microsoft.com/office/drawing/2014/main" id="{9C71E13A-7AF7-4F03-85AB-05ECC2EAE0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3753" y="2260860"/>
            <a:ext cx="248187" cy="248187"/>
          </a:xfrm>
          <a:prstGeom prst="rect">
            <a:avLst/>
          </a:prstGeom>
        </p:spPr>
      </p:pic>
      <p:pic>
        <p:nvPicPr>
          <p:cNvPr id="8" name="Grafik 7" descr="Häkchen mit einfarbiger Füllung">
            <a:extLst>
              <a:ext uri="{FF2B5EF4-FFF2-40B4-BE49-F238E27FC236}">
                <a16:creationId xmlns:a16="http://schemas.microsoft.com/office/drawing/2014/main" id="{4D6E3C44-B4E7-4ECE-9B16-89DAD65DDB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3752" y="2992380"/>
            <a:ext cx="248187" cy="248187"/>
          </a:xfrm>
          <a:prstGeom prst="rect">
            <a:avLst/>
          </a:prstGeom>
        </p:spPr>
      </p:pic>
      <p:pic>
        <p:nvPicPr>
          <p:cNvPr id="9" name="Grafik 8" descr="Häkchen mit einfarbiger Füllung">
            <a:extLst>
              <a:ext uri="{FF2B5EF4-FFF2-40B4-BE49-F238E27FC236}">
                <a16:creationId xmlns:a16="http://schemas.microsoft.com/office/drawing/2014/main" id="{16CE2F22-DEC0-45DA-B5B5-71C6FFF003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1906" y="2992379"/>
            <a:ext cx="248187" cy="248187"/>
          </a:xfrm>
          <a:prstGeom prst="rect">
            <a:avLst/>
          </a:prstGeom>
        </p:spPr>
      </p:pic>
      <p:pic>
        <p:nvPicPr>
          <p:cNvPr id="10" name="Grafik 9" descr="Häkchen mit einfarbiger Füllung">
            <a:extLst>
              <a:ext uri="{FF2B5EF4-FFF2-40B4-BE49-F238E27FC236}">
                <a16:creationId xmlns:a16="http://schemas.microsoft.com/office/drawing/2014/main" id="{4DB71C20-E3C8-43E4-85CB-8E3E8885FF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0060" y="2992378"/>
            <a:ext cx="248187" cy="248187"/>
          </a:xfrm>
          <a:prstGeom prst="rect">
            <a:avLst/>
          </a:prstGeom>
        </p:spPr>
      </p:pic>
      <p:pic>
        <p:nvPicPr>
          <p:cNvPr id="13" name="Grafik 12" descr="Häkchen mit einfarbiger Füllung">
            <a:extLst>
              <a:ext uri="{FF2B5EF4-FFF2-40B4-BE49-F238E27FC236}">
                <a16:creationId xmlns:a16="http://schemas.microsoft.com/office/drawing/2014/main" id="{2BA29D65-4F5E-4792-8D05-CC2C940776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0059" y="2260860"/>
            <a:ext cx="248187" cy="248187"/>
          </a:xfrm>
          <a:prstGeom prst="rect">
            <a:avLst/>
          </a:prstGeom>
        </p:spPr>
      </p:pic>
      <p:pic>
        <p:nvPicPr>
          <p:cNvPr id="14" name="Grafik 13" descr="Häkchen mit einfarbiger Füllung">
            <a:extLst>
              <a:ext uri="{FF2B5EF4-FFF2-40B4-BE49-F238E27FC236}">
                <a16:creationId xmlns:a16="http://schemas.microsoft.com/office/drawing/2014/main" id="{7C14BD82-A999-4A6D-9E1C-B56928C71C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8212" y="2260860"/>
            <a:ext cx="248187" cy="248187"/>
          </a:xfrm>
          <a:prstGeom prst="rect">
            <a:avLst/>
          </a:prstGeom>
        </p:spPr>
      </p:pic>
      <p:pic>
        <p:nvPicPr>
          <p:cNvPr id="17" name="Grafik 16" descr="Häkchen mit einfarbiger Füllung">
            <a:extLst>
              <a:ext uri="{FF2B5EF4-FFF2-40B4-BE49-F238E27FC236}">
                <a16:creationId xmlns:a16="http://schemas.microsoft.com/office/drawing/2014/main" id="{27E4FBC1-DBE8-48F2-9DF5-DF59C43BC6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0059" y="2626618"/>
            <a:ext cx="248187" cy="248187"/>
          </a:xfrm>
          <a:prstGeom prst="rect">
            <a:avLst/>
          </a:prstGeom>
        </p:spPr>
      </p:pic>
      <p:pic>
        <p:nvPicPr>
          <p:cNvPr id="18" name="Grafik 17" descr="Häkchen mit einfarbiger Füllung">
            <a:extLst>
              <a:ext uri="{FF2B5EF4-FFF2-40B4-BE49-F238E27FC236}">
                <a16:creationId xmlns:a16="http://schemas.microsoft.com/office/drawing/2014/main" id="{BD68850F-3287-4D7F-93ED-0BC403DD54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8213" y="2626617"/>
            <a:ext cx="248187" cy="24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3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0B6CB5-8F30-450C-9CFC-EB610AC21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157"/>
            <a:ext cx="10515600" cy="5488806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Use </a:t>
            </a:r>
            <a:r>
              <a:rPr lang="de-DE" dirty="0" err="1">
                <a:solidFill>
                  <a:schemeClr val="accent2"/>
                </a:solidFill>
              </a:rPr>
              <a:t>dependencies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production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2903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0B6CB5-8F30-450C-9CFC-EB610AC21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157"/>
            <a:ext cx="10515600" cy="5488806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Use </a:t>
            </a:r>
            <a:r>
              <a:rPr lang="de-DE" dirty="0" err="1">
                <a:solidFill>
                  <a:schemeClr val="accent2"/>
                </a:solidFill>
              </a:rPr>
              <a:t>devDependencies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development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4056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0B6CB5-8F30-450C-9CFC-EB610AC21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157"/>
            <a:ext cx="10515600" cy="5488806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Use </a:t>
            </a:r>
            <a:r>
              <a:rPr lang="de-DE" dirty="0" err="1">
                <a:solidFill>
                  <a:schemeClr val="accent2"/>
                </a:solidFill>
              </a:rPr>
              <a:t>peerDependencies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ensure</a:t>
            </a:r>
            <a:r>
              <a:rPr lang="de-DE" dirty="0"/>
              <a:t>,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consumer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1126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0B6CB5-8F30-450C-9CFC-EB610AC21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157"/>
            <a:ext cx="10515600" cy="5488806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Use </a:t>
            </a:r>
            <a:r>
              <a:rPr lang="de-DE" dirty="0" err="1">
                <a:solidFill>
                  <a:schemeClr val="accent2"/>
                </a:solidFill>
              </a:rPr>
              <a:t>optionalDependencies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ensure</a:t>
            </a:r>
            <a:r>
              <a:rPr lang="de-DE" dirty="0"/>
              <a:t>,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consumer</a:t>
            </a:r>
            <a:r>
              <a:rPr lang="de-DE" dirty="0"/>
              <a:t> but </a:t>
            </a:r>
            <a:r>
              <a:rPr lang="de-DE" dirty="0" err="1"/>
              <a:t>have</a:t>
            </a:r>
            <a:r>
              <a:rPr lang="de-DE" dirty="0"/>
              <a:t> a </a:t>
            </a:r>
            <a:r>
              <a:rPr lang="de-DE" dirty="0" err="1"/>
              <a:t>runtime</a:t>
            </a:r>
            <a:r>
              <a:rPr lang="de-DE" dirty="0"/>
              <a:t> check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exist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5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27A63-3822-48BC-B0D0-4545B2FF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Introducing</a:t>
            </a:r>
            <a:r>
              <a:rPr lang="de-DE" dirty="0"/>
              <a:t> </a:t>
            </a:r>
            <a:r>
              <a:rPr lang="de-DE" dirty="0" err="1"/>
              <a:t>semver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9E1487F-C9AF-4DE1-A0A7-89E277433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881" y="2717435"/>
            <a:ext cx="4709082" cy="13255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9600" dirty="0"/>
              <a:t>1.5.1</a:t>
            </a:r>
            <a:endParaRPr lang="en-US" sz="9600" dirty="0"/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1F471D2D-3071-4BD7-861B-ED813574C9B2}"/>
              </a:ext>
            </a:extLst>
          </p:cNvPr>
          <p:cNvSpPr txBox="1">
            <a:spLocks/>
          </p:cNvSpPr>
          <p:nvPr/>
        </p:nvSpPr>
        <p:spPr>
          <a:xfrm>
            <a:off x="3852027" y="3825990"/>
            <a:ext cx="1365316" cy="48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accent1"/>
                </a:solidFill>
              </a:rPr>
              <a:t>MAYOR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210153E0-619F-4723-9A0B-E9CB5CFF5E51}"/>
              </a:ext>
            </a:extLst>
          </p:cNvPr>
          <p:cNvSpPr txBox="1">
            <a:spLocks/>
          </p:cNvSpPr>
          <p:nvPr/>
        </p:nvSpPr>
        <p:spPr>
          <a:xfrm>
            <a:off x="5288635" y="3834126"/>
            <a:ext cx="1365316" cy="48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accent1"/>
                </a:solidFill>
              </a:rPr>
              <a:t>MINOR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043DA562-A833-4F4E-9F41-F56D1717BE1D}"/>
              </a:ext>
            </a:extLst>
          </p:cNvPr>
          <p:cNvSpPr txBox="1">
            <a:spLocks/>
          </p:cNvSpPr>
          <p:nvPr/>
        </p:nvSpPr>
        <p:spPr>
          <a:xfrm>
            <a:off x="6772378" y="3853013"/>
            <a:ext cx="1365316" cy="48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accent1"/>
                </a:solidFill>
              </a:rPr>
              <a:t>PATCH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463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27A63-3822-48BC-B0D0-4545B2FF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Introducing</a:t>
            </a:r>
            <a:r>
              <a:rPr lang="de-DE" dirty="0"/>
              <a:t> </a:t>
            </a:r>
            <a:r>
              <a:rPr lang="de-DE" dirty="0" err="1"/>
              <a:t>semver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306456-34C9-4E83-BE65-A94675179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chemeClr val="accent2"/>
                </a:solidFill>
              </a:rPr>
              <a:t>^</a:t>
            </a:r>
            <a:r>
              <a:rPr lang="de-DE" dirty="0"/>
              <a:t>		</a:t>
            </a:r>
            <a:r>
              <a:rPr lang="de-DE" sz="2400" dirty="0" err="1"/>
              <a:t>Compatible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all minor and </a:t>
            </a:r>
            <a:r>
              <a:rPr lang="de-DE" sz="2400" dirty="0" err="1"/>
              <a:t>patch</a:t>
            </a:r>
            <a:r>
              <a:rPr lang="de-DE" sz="2400" dirty="0"/>
              <a:t> </a:t>
            </a:r>
            <a:r>
              <a:rPr lang="de-DE" sz="2400" dirty="0" err="1"/>
              <a:t>versions</a:t>
            </a:r>
            <a:endParaRPr lang="de-DE" dirty="0"/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~</a:t>
            </a:r>
            <a:r>
              <a:rPr lang="en-US" dirty="0"/>
              <a:t>		</a:t>
            </a:r>
            <a:r>
              <a:rPr lang="en-US" sz="2400" dirty="0"/>
              <a:t>Compatible with all patch versions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*</a:t>
            </a:r>
            <a:r>
              <a:rPr lang="en-US" dirty="0"/>
              <a:t>		</a:t>
            </a:r>
            <a:r>
              <a:rPr lang="en-US" sz="2400" dirty="0"/>
              <a:t>Compatible with every version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&lt;tag&gt;</a:t>
            </a:r>
            <a:r>
              <a:rPr lang="en-US" dirty="0"/>
              <a:t> 	</a:t>
            </a:r>
            <a:r>
              <a:rPr lang="en-US" sz="2400" dirty="0"/>
              <a:t>Compatible with a single tagged version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626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0B6CB5-8F30-450C-9CFC-EB610AC21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157"/>
            <a:ext cx="10515600" cy="5488806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>
                <a:solidFill>
                  <a:schemeClr val="accent5"/>
                </a:solidFill>
              </a:rPr>
              <a:t>Do not </a:t>
            </a:r>
            <a:r>
              <a:rPr lang="de-DE" dirty="0" err="1">
                <a:solidFill>
                  <a:schemeClr val="accent5"/>
                </a:solidFill>
              </a:rPr>
              <a:t>specify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the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version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you</a:t>
            </a:r>
            <a:r>
              <a:rPr lang="de-DE" dirty="0">
                <a:solidFill>
                  <a:schemeClr val="accent5"/>
                </a:solidFill>
              </a:rPr>
              <a:t> </a:t>
            </a:r>
            <a:r>
              <a:rPr lang="de-DE" dirty="0" err="1">
                <a:solidFill>
                  <a:schemeClr val="accent5"/>
                </a:solidFill>
              </a:rPr>
              <a:t>need</a:t>
            </a:r>
            <a:r>
              <a:rPr lang="de-DE" dirty="0"/>
              <a:t>, </a:t>
            </a:r>
            <a:r>
              <a:rPr lang="de-DE" dirty="0">
                <a:solidFill>
                  <a:schemeClr val="accent4"/>
                </a:solidFill>
              </a:rPr>
              <a:t>but </a:t>
            </a:r>
            <a:r>
              <a:rPr lang="de-DE" dirty="0" err="1">
                <a:solidFill>
                  <a:schemeClr val="accent4"/>
                </a:solidFill>
              </a:rPr>
              <a:t>the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versions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your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are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compatible</a:t>
            </a:r>
            <a:r>
              <a:rPr lang="de-DE" dirty="0">
                <a:solidFill>
                  <a:schemeClr val="accent4"/>
                </a:solidFill>
              </a:rPr>
              <a:t> </a:t>
            </a:r>
            <a:r>
              <a:rPr lang="de-DE" dirty="0" err="1">
                <a:solidFill>
                  <a:schemeClr val="accent4"/>
                </a:solidFill>
              </a:rPr>
              <a:t>with</a:t>
            </a:r>
            <a:endParaRPr lang="de-DE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51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307A3-8799-49DD-B8D1-7FABA277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340E9F-FCF1-4B4F-A61D-4DCA30CB19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78664" y="2305615"/>
            <a:ext cx="3570208" cy="2246769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"^1.0.0"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3C95498-561B-471D-8625-71436AA2B26C}"/>
              </a:ext>
            </a:extLst>
          </p:cNvPr>
          <p:cNvSpPr txBox="1"/>
          <p:nvPr/>
        </p:nvSpPr>
        <p:spPr>
          <a:xfrm>
            <a:off x="838200" y="1367209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Jquery</a:t>
            </a:r>
            <a:r>
              <a:rPr lang="de-DE" dirty="0"/>
              <a:t> </a:t>
            </a:r>
            <a:r>
              <a:rPr lang="de-DE" dirty="0" err="1"/>
              <a:t>latest</a:t>
            </a:r>
            <a:r>
              <a:rPr lang="de-DE" dirty="0"/>
              <a:t> 1.6.0</a:t>
            </a:r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E3B200-1107-4F3D-9D0B-B8D1CED9F2E8}"/>
              </a:ext>
            </a:extLst>
          </p:cNvPr>
          <p:cNvSpPr txBox="1"/>
          <p:nvPr/>
        </p:nvSpPr>
        <p:spPr>
          <a:xfrm>
            <a:off x="5426789" y="5013423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accent2"/>
                </a:solidFill>
              </a:rPr>
              <a:t>1.6.0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507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307A3-8799-49DD-B8D1-7FABA277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340E9F-FCF1-4B4F-A61D-4DCA30CB19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151727"/>
            <a:ext cx="3570208" cy="2246769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"^1.0.0"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BD580EE-FAB8-47BD-BC17-B86ABE591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51727"/>
            <a:ext cx="4270341" cy="2554545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"module-b"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~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1.5.0"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3C95498-561B-471D-8625-71436AA2B26C}"/>
              </a:ext>
            </a:extLst>
          </p:cNvPr>
          <p:cNvSpPr txBox="1"/>
          <p:nvPr/>
        </p:nvSpPr>
        <p:spPr>
          <a:xfrm>
            <a:off x="838200" y="1367209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Jquery</a:t>
            </a:r>
            <a:r>
              <a:rPr lang="de-DE" dirty="0"/>
              <a:t> </a:t>
            </a:r>
            <a:r>
              <a:rPr lang="de-DE" dirty="0" err="1"/>
              <a:t>latest</a:t>
            </a:r>
            <a:r>
              <a:rPr lang="de-DE" dirty="0"/>
              <a:t> 1.6.0</a:t>
            </a:r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E3B200-1107-4F3D-9D0B-B8D1CED9F2E8}"/>
              </a:ext>
            </a:extLst>
          </p:cNvPr>
          <p:cNvSpPr txBox="1"/>
          <p:nvPr/>
        </p:nvSpPr>
        <p:spPr>
          <a:xfrm>
            <a:off x="7444125" y="4859535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accent2"/>
                </a:solidFill>
              </a:rPr>
              <a:t>1.6.0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3F15F27-44D6-4F49-B497-410DE8692614}"/>
              </a:ext>
            </a:extLst>
          </p:cNvPr>
          <p:cNvSpPr txBox="1"/>
          <p:nvPr/>
        </p:nvSpPr>
        <p:spPr>
          <a:xfrm>
            <a:off x="2240186" y="4859535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accent2"/>
                </a:solidFill>
              </a:rPr>
              <a:t>1.5.0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605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307A3-8799-49DD-B8D1-7FABA277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340E9F-FCF1-4B4F-A61D-4DCA30CB19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151727"/>
            <a:ext cx="3570208" cy="2246769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"^1.5.0"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BD580EE-FAB8-47BD-BC17-B86ABE591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51727"/>
            <a:ext cx="4270341" cy="2554545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"module-b"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"^1.5.0"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3C95498-561B-471D-8625-71436AA2B26C}"/>
              </a:ext>
            </a:extLst>
          </p:cNvPr>
          <p:cNvSpPr txBox="1"/>
          <p:nvPr/>
        </p:nvSpPr>
        <p:spPr>
          <a:xfrm>
            <a:off x="838200" y="1367209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Jquery</a:t>
            </a:r>
            <a:r>
              <a:rPr lang="de-DE" dirty="0"/>
              <a:t> </a:t>
            </a:r>
            <a:r>
              <a:rPr lang="de-DE" dirty="0" err="1"/>
              <a:t>latest</a:t>
            </a:r>
            <a:r>
              <a:rPr lang="de-DE" dirty="0"/>
              <a:t> 1.6.0</a:t>
            </a:r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E3B200-1107-4F3D-9D0B-B8D1CED9F2E8}"/>
              </a:ext>
            </a:extLst>
          </p:cNvPr>
          <p:cNvSpPr txBox="1"/>
          <p:nvPr/>
        </p:nvSpPr>
        <p:spPr>
          <a:xfrm>
            <a:off x="7444125" y="4859535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accent2"/>
                </a:solidFill>
              </a:rPr>
              <a:t>1.6.0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3F15F27-44D6-4F49-B497-410DE8692614}"/>
              </a:ext>
            </a:extLst>
          </p:cNvPr>
          <p:cNvSpPr txBox="1"/>
          <p:nvPr/>
        </p:nvSpPr>
        <p:spPr>
          <a:xfrm>
            <a:off x="2240186" y="4859535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accent2"/>
                </a:solidFill>
              </a:rPr>
              <a:t>1.6.0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223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307A3-8799-49DD-B8D1-7FABA277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340E9F-FCF1-4B4F-A61D-4DCA30CB19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151727"/>
            <a:ext cx="3724096" cy="2246769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</a:t>
            </a:r>
            <a:r>
              <a:rPr lang="en-US" altLang="en-US" sz="2000" dirty="0">
                <a:solidFill>
                  <a:srgbClr val="BBBBBB"/>
                </a:solidFill>
                <a:latin typeface="JetBrains Mono" panose="020B0604020202020204" charset="0"/>
                <a:cs typeface="JetBrains Mon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peerDependencies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"*"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BD580EE-FAB8-47BD-BC17-B86ABE591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51727"/>
            <a:ext cx="4270341" cy="2554545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"module-b"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"1.1.0"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3C95498-561B-471D-8625-71436AA2B26C}"/>
              </a:ext>
            </a:extLst>
          </p:cNvPr>
          <p:cNvSpPr txBox="1"/>
          <p:nvPr/>
        </p:nvSpPr>
        <p:spPr>
          <a:xfrm>
            <a:off x="838200" y="1367209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Jquery</a:t>
            </a:r>
            <a:r>
              <a:rPr lang="de-DE" dirty="0"/>
              <a:t> </a:t>
            </a:r>
            <a:r>
              <a:rPr lang="de-DE" dirty="0" err="1"/>
              <a:t>latest</a:t>
            </a:r>
            <a:r>
              <a:rPr lang="de-DE" dirty="0"/>
              <a:t> 1.6.0</a:t>
            </a:r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E3B200-1107-4F3D-9D0B-B8D1CED9F2E8}"/>
              </a:ext>
            </a:extLst>
          </p:cNvPr>
          <p:cNvSpPr txBox="1"/>
          <p:nvPr/>
        </p:nvSpPr>
        <p:spPr>
          <a:xfrm>
            <a:off x="7444125" y="4859535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accent2"/>
                </a:solidFill>
              </a:rPr>
              <a:t>-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3F15F27-44D6-4F49-B497-410DE8692614}"/>
              </a:ext>
            </a:extLst>
          </p:cNvPr>
          <p:cNvSpPr txBox="1"/>
          <p:nvPr/>
        </p:nvSpPr>
        <p:spPr>
          <a:xfrm>
            <a:off x="2240186" y="4859535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accent2"/>
                </a:solidFill>
              </a:rPr>
              <a:t>1.1.0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887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307A3-8799-49DD-B8D1-7FABA277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340E9F-FCF1-4B4F-A61D-4DCA30CB19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151727"/>
            <a:ext cx="3416320" cy="2246769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"1.1.0"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BD580EE-FAB8-47BD-BC17-B86ABE591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51727"/>
            <a:ext cx="4270341" cy="2554545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"module-b"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"^1.0.0"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"1.2.0"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3C95498-561B-471D-8625-71436AA2B26C}"/>
              </a:ext>
            </a:extLst>
          </p:cNvPr>
          <p:cNvSpPr txBox="1"/>
          <p:nvPr/>
        </p:nvSpPr>
        <p:spPr>
          <a:xfrm>
            <a:off x="838200" y="1367209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Jquery</a:t>
            </a:r>
            <a:r>
              <a:rPr lang="de-DE" dirty="0"/>
              <a:t> </a:t>
            </a:r>
            <a:r>
              <a:rPr lang="de-DE" dirty="0" err="1"/>
              <a:t>latest</a:t>
            </a:r>
            <a:r>
              <a:rPr lang="de-DE" dirty="0"/>
              <a:t> 1.6.0</a:t>
            </a:r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E3B200-1107-4F3D-9D0B-B8D1CED9F2E8}"/>
              </a:ext>
            </a:extLst>
          </p:cNvPr>
          <p:cNvSpPr txBox="1"/>
          <p:nvPr/>
        </p:nvSpPr>
        <p:spPr>
          <a:xfrm>
            <a:off x="7444125" y="4859535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accent2"/>
                </a:solidFill>
              </a:rPr>
              <a:t>1.1.0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3F15F27-44D6-4F49-B497-410DE8692614}"/>
              </a:ext>
            </a:extLst>
          </p:cNvPr>
          <p:cNvSpPr txBox="1"/>
          <p:nvPr/>
        </p:nvSpPr>
        <p:spPr>
          <a:xfrm>
            <a:off x="1770779" y="4859535"/>
            <a:ext cx="2977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accent2"/>
                </a:solidFill>
              </a:rPr>
              <a:t>1.2.0 &amp; 1.1.0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352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ABD66-F3C1-4718-BD5E-6D71AC4C5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Module </a:t>
            </a:r>
            <a:r>
              <a:rPr lang="de-DE" dirty="0" err="1"/>
              <a:t>resolution</a:t>
            </a:r>
            <a:endParaRPr lang="en-US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63F3784-92EC-4FF9-B127-ACE07F07E56B}"/>
              </a:ext>
            </a:extLst>
          </p:cNvPr>
          <p:cNvSpPr txBox="1"/>
          <p:nvPr/>
        </p:nvSpPr>
        <p:spPr>
          <a:xfrm>
            <a:off x="7083461" y="2894822"/>
            <a:ext cx="34932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/</a:t>
            </a:r>
            <a:r>
              <a:rPr lang="de-DE" dirty="0" err="1"/>
              <a:t>app</a:t>
            </a:r>
            <a:endParaRPr lang="de-DE" dirty="0"/>
          </a:p>
          <a:p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node_modules</a:t>
            </a:r>
            <a:endParaRPr lang="de-DE" dirty="0"/>
          </a:p>
          <a:p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node_modules</a:t>
            </a:r>
            <a:r>
              <a:rPr lang="de-DE" dirty="0"/>
              <a:t>/</a:t>
            </a:r>
            <a:r>
              <a:rPr lang="de-DE" dirty="0" err="1"/>
              <a:t>jquery</a:t>
            </a:r>
            <a:endParaRPr lang="de-DE" dirty="0"/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1CFC83-8CE5-4B60-8637-9AFD52C14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59" y="2613392"/>
            <a:ext cx="4270341" cy="1631216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"1.2.0"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65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ABD66-F3C1-4718-BD5E-6D71AC4C5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Module </a:t>
            </a:r>
            <a:r>
              <a:rPr lang="de-DE" dirty="0" err="1"/>
              <a:t>resolution</a:t>
            </a:r>
            <a:endParaRPr lang="en-US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63F3784-92EC-4FF9-B127-ACE07F07E56B}"/>
              </a:ext>
            </a:extLst>
          </p:cNvPr>
          <p:cNvSpPr txBox="1"/>
          <p:nvPr/>
        </p:nvSpPr>
        <p:spPr>
          <a:xfrm>
            <a:off x="6866644" y="3429000"/>
            <a:ext cx="37689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/</a:t>
            </a:r>
            <a:r>
              <a:rPr lang="de-DE" dirty="0" err="1"/>
              <a:t>app</a:t>
            </a:r>
            <a:endParaRPr lang="de-DE" dirty="0"/>
          </a:p>
          <a:p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node_modules</a:t>
            </a:r>
            <a:endParaRPr lang="de-DE" dirty="0"/>
          </a:p>
          <a:p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node_modules</a:t>
            </a:r>
            <a:r>
              <a:rPr lang="de-DE" dirty="0"/>
              <a:t>/</a:t>
            </a:r>
            <a:r>
              <a:rPr lang="de-DE" dirty="0" err="1"/>
              <a:t>jquery</a:t>
            </a:r>
            <a:endParaRPr lang="de-DE" dirty="0"/>
          </a:p>
          <a:p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node_modules</a:t>
            </a:r>
            <a:r>
              <a:rPr lang="de-DE" dirty="0"/>
              <a:t>/</a:t>
            </a:r>
            <a:r>
              <a:rPr lang="de-DE" dirty="0" err="1"/>
              <a:t>module</a:t>
            </a:r>
            <a:r>
              <a:rPr lang="de-DE" dirty="0"/>
              <a:t>-a</a:t>
            </a:r>
          </a:p>
          <a:p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3832090-DBFB-49E7-9B2D-9777B1CAFC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5659" y="4259369"/>
            <a:ext cx="2900153" cy="1815882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"^1.1.0"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8184787-D36A-4240-94D9-C3B9F00EE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59" y="2370790"/>
            <a:ext cx="4270341" cy="156966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"^1.0.0"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"^1.2.0"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108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ABD66-F3C1-4718-BD5E-6D71AC4C5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Module </a:t>
            </a:r>
            <a:r>
              <a:rPr lang="de-DE" dirty="0" err="1"/>
              <a:t>resolution</a:t>
            </a:r>
            <a:endParaRPr lang="en-US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63F3784-92EC-4FF9-B127-ACE07F07E56B}"/>
              </a:ext>
            </a:extLst>
          </p:cNvPr>
          <p:cNvSpPr txBox="1"/>
          <p:nvPr/>
        </p:nvSpPr>
        <p:spPr>
          <a:xfrm>
            <a:off x="5245234" y="3105207"/>
            <a:ext cx="666400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/</a:t>
            </a:r>
            <a:r>
              <a:rPr lang="de-DE" dirty="0" err="1"/>
              <a:t>app</a:t>
            </a:r>
            <a:endParaRPr lang="de-DE" dirty="0"/>
          </a:p>
          <a:p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node_modules</a:t>
            </a:r>
            <a:endParaRPr lang="de-DE" dirty="0"/>
          </a:p>
          <a:p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node_modules</a:t>
            </a:r>
            <a:r>
              <a:rPr lang="de-DE" dirty="0"/>
              <a:t>/</a:t>
            </a:r>
            <a:r>
              <a:rPr lang="de-DE" dirty="0" err="1"/>
              <a:t>jquery</a:t>
            </a:r>
            <a:endParaRPr lang="de-DE" dirty="0"/>
          </a:p>
          <a:p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node_modules</a:t>
            </a:r>
            <a:r>
              <a:rPr lang="de-DE" dirty="0"/>
              <a:t>/</a:t>
            </a:r>
            <a:r>
              <a:rPr lang="de-DE" dirty="0" err="1"/>
              <a:t>module</a:t>
            </a:r>
            <a:r>
              <a:rPr lang="de-DE" dirty="0"/>
              <a:t>-a</a:t>
            </a:r>
          </a:p>
          <a:p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node_modules</a:t>
            </a:r>
            <a:r>
              <a:rPr lang="de-DE" dirty="0"/>
              <a:t>/</a:t>
            </a:r>
            <a:r>
              <a:rPr lang="de-DE" dirty="0" err="1"/>
              <a:t>module</a:t>
            </a:r>
            <a:r>
              <a:rPr lang="de-DE" dirty="0"/>
              <a:t>-a/</a:t>
            </a:r>
            <a:r>
              <a:rPr lang="de-DE" dirty="0" err="1"/>
              <a:t>node_modules</a:t>
            </a:r>
            <a:endParaRPr lang="de-DE" dirty="0"/>
          </a:p>
          <a:p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node_modules</a:t>
            </a:r>
            <a:r>
              <a:rPr lang="de-DE" dirty="0"/>
              <a:t>/</a:t>
            </a:r>
            <a:r>
              <a:rPr lang="de-DE" dirty="0" err="1"/>
              <a:t>module</a:t>
            </a:r>
            <a:r>
              <a:rPr lang="de-DE" dirty="0"/>
              <a:t>-a/</a:t>
            </a:r>
            <a:r>
              <a:rPr lang="de-DE" dirty="0" err="1"/>
              <a:t>node_modules</a:t>
            </a:r>
            <a:r>
              <a:rPr lang="de-DE" dirty="0"/>
              <a:t>/</a:t>
            </a:r>
            <a:r>
              <a:rPr lang="de-DE" dirty="0" err="1"/>
              <a:t>jquery</a:t>
            </a: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3832090-DBFB-49E7-9B2D-9777B1CAFC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9540" y="4249942"/>
            <a:ext cx="2776722" cy="1815882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"name"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"version"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"1.0.0"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"1.1.0"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8184787-D36A-4240-94D9-C3B9F00EE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540" y="2361363"/>
            <a:ext cx="3311949" cy="1569660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"dependencies"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"module-a"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"^1.0.0"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jquery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F596F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"1.2.0"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9CA7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915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0AF85D0E-EDDE-4637-BE9D-9FD86F584A79}"/>
              </a:ext>
            </a:extLst>
          </p:cNvPr>
          <p:cNvSpPr/>
          <p:nvPr/>
        </p:nvSpPr>
        <p:spPr>
          <a:xfrm>
            <a:off x="1875935" y="2769124"/>
            <a:ext cx="2155596" cy="914400"/>
          </a:xfrm>
          <a:prstGeom prst="rect">
            <a:avLst/>
          </a:prstGeom>
          <a:solidFill>
            <a:srgbClr val="373C4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2"/>
                </a:solidFill>
              </a:rPr>
              <a:t>node_modules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exist</a:t>
            </a:r>
            <a:r>
              <a:rPr lang="de-DE" dirty="0">
                <a:solidFill>
                  <a:schemeClr val="bg2"/>
                </a:solidFill>
              </a:rPr>
              <a:t>?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A624E7D-3DC8-4B94-8F9C-23B9EEF89099}"/>
              </a:ext>
            </a:extLst>
          </p:cNvPr>
          <p:cNvSpPr/>
          <p:nvPr/>
        </p:nvSpPr>
        <p:spPr>
          <a:xfrm>
            <a:off x="4911365" y="4682765"/>
            <a:ext cx="2155596" cy="914400"/>
          </a:xfrm>
          <a:prstGeom prst="rect">
            <a:avLst/>
          </a:prstGeom>
          <a:solidFill>
            <a:srgbClr val="373C4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2"/>
                </a:solidFill>
              </a:rPr>
              <a:t>contains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module</a:t>
            </a:r>
            <a:r>
              <a:rPr lang="de-DE" dirty="0">
                <a:solidFill>
                  <a:schemeClr val="bg2"/>
                </a:solidFill>
              </a:rPr>
              <a:t>?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FA32960-9565-4194-964F-8120160D4E10}"/>
              </a:ext>
            </a:extLst>
          </p:cNvPr>
          <p:cNvSpPr/>
          <p:nvPr/>
        </p:nvSpPr>
        <p:spPr>
          <a:xfrm>
            <a:off x="8193464" y="4682765"/>
            <a:ext cx="2155596" cy="914400"/>
          </a:xfrm>
          <a:prstGeom prst="rect">
            <a:avLst/>
          </a:prstGeom>
          <a:solidFill>
            <a:srgbClr val="373C47"/>
          </a:solidFill>
          <a:ln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accent4"/>
                </a:solidFill>
              </a:rPr>
              <a:t>resolve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308B267A-25E5-436D-8211-C35A486D4273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7066961" y="5139965"/>
            <a:ext cx="11265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262A63EE-8A0F-4143-83FC-6F365A6980C1}"/>
              </a:ext>
            </a:extLst>
          </p:cNvPr>
          <p:cNvSpPr/>
          <p:nvPr/>
        </p:nvSpPr>
        <p:spPr>
          <a:xfrm>
            <a:off x="4911365" y="2769124"/>
            <a:ext cx="2155596" cy="914400"/>
          </a:xfrm>
          <a:prstGeom prst="rect">
            <a:avLst/>
          </a:prstGeom>
          <a:solidFill>
            <a:srgbClr val="373C4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2"/>
                </a:solidFill>
              </a:rPr>
              <a:t>root </a:t>
            </a:r>
            <a:r>
              <a:rPr lang="de-DE" dirty="0" err="1">
                <a:solidFill>
                  <a:schemeClr val="bg2"/>
                </a:solidFill>
              </a:rPr>
              <a:t>directory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reached</a:t>
            </a:r>
            <a:r>
              <a:rPr lang="de-DE" dirty="0">
                <a:solidFill>
                  <a:schemeClr val="bg2"/>
                </a:solidFill>
              </a:rPr>
              <a:t>?</a:t>
            </a:r>
            <a:endParaRPr lang="en-US" dirty="0">
              <a:solidFill>
                <a:schemeClr val="bg2"/>
              </a:solidFill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DB15768-C5C9-4EAF-B067-F9F1A04319A2}"/>
              </a:ext>
            </a:extLst>
          </p:cNvPr>
          <p:cNvCxnSpPr>
            <a:stCxn id="6" idx="3"/>
            <a:endCxn id="14" idx="1"/>
          </p:cNvCxnSpPr>
          <p:nvPr/>
        </p:nvCxnSpPr>
        <p:spPr>
          <a:xfrm>
            <a:off x="4031531" y="3226324"/>
            <a:ext cx="8798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0B971369-D306-49DB-B90E-9E0B25995521}"/>
              </a:ext>
            </a:extLst>
          </p:cNvPr>
          <p:cNvSpPr/>
          <p:nvPr/>
        </p:nvSpPr>
        <p:spPr>
          <a:xfrm>
            <a:off x="4911365" y="940324"/>
            <a:ext cx="2155596" cy="914400"/>
          </a:xfrm>
          <a:prstGeom prst="rect">
            <a:avLst/>
          </a:prstGeom>
          <a:solidFill>
            <a:srgbClr val="373C4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2"/>
                </a:solidFill>
              </a:rPr>
              <a:t>go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up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directory</a:t>
            </a:r>
            <a:endParaRPr lang="en-US" dirty="0">
              <a:solidFill>
                <a:schemeClr val="bg2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8120BE19-55EC-401D-A7BE-AE70D84EC2F2}"/>
              </a:ext>
            </a:extLst>
          </p:cNvPr>
          <p:cNvCxnSpPr>
            <a:stCxn id="14" idx="0"/>
            <a:endCxn id="17" idx="2"/>
          </p:cNvCxnSpPr>
          <p:nvPr/>
        </p:nvCxnSpPr>
        <p:spPr>
          <a:xfrm flipV="1">
            <a:off x="5989163" y="1854724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37481597-FE64-4D0B-BACF-C6859C4910EC}"/>
              </a:ext>
            </a:extLst>
          </p:cNvPr>
          <p:cNvSpPr/>
          <p:nvPr/>
        </p:nvSpPr>
        <p:spPr>
          <a:xfrm>
            <a:off x="8193464" y="2769124"/>
            <a:ext cx="2155596" cy="914400"/>
          </a:xfrm>
          <a:prstGeom prst="rect">
            <a:avLst/>
          </a:prstGeom>
          <a:solidFill>
            <a:srgbClr val="373C47"/>
          </a:solidFill>
          <a:ln>
            <a:solidFill>
              <a:schemeClr val="accent5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accent5"/>
                </a:solidFill>
              </a:rPr>
              <a:t>error</a:t>
            </a:r>
            <a:endParaRPr lang="en-US" dirty="0">
              <a:solidFill>
                <a:schemeClr val="accent5"/>
              </a:solidFill>
            </a:endParaRP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14C7FB01-2CEA-4CB2-9BFF-0DE5D52ECCAE}"/>
              </a:ext>
            </a:extLst>
          </p:cNvPr>
          <p:cNvCxnSpPr>
            <a:stCxn id="14" idx="3"/>
            <a:endCxn id="28" idx="1"/>
          </p:cNvCxnSpPr>
          <p:nvPr/>
        </p:nvCxnSpPr>
        <p:spPr>
          <a:xfrm>
            <a:off x="7066961" y="3226324"/>
            <a:ext cx="11265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779C80F8-A0FD-4FDB-904B-44E13DB97B9F}"/>
              </a:ext>
            </a:extLst>
          </p:cNvPr>
          <p:cNvSpPr txBox="1"/>
          <p:nvPr/>
        </p:nvSpPr>
        <p:spPr>
          <a:xfrm>
            <a:off x="5972647" y="212725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accent5"/>
                </a:solidFill>
              </a:rPr>
              <a:t>no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D0FB7A1C-D738-400C-9CC2-8D5CC2FCD0FE}"/>
              </a:ext>
            </a:extLst>
          </p:cNvPr>
          <p:cNvSpPr txBox="1"/>
          <p:nvPr/>
        </p:nvSpPr>
        <p:spPr>
          <a:xfrm>
            <a:off x="4224014" y="288762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accent5"/>
                </a:solidFill>
              </a:rPr>
              <a:t>no</a:t>
            </a:r>
            <a:endParaRPr lang="en-US" dirty="0">
              <a:solidFill>
                <a:schemeClr val="accent5"/>
              </a:solidFill>
            </a:endParaRP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931EEF3-A0F0-4616-8C11-13EBE863C11D}"/>
              </a:ext>
            </a:extLst>
          </p:cNvPr>
          <p:cNvCxnSpPr>
            <a:stCxn id="7" idx="0"/>
            <a:endCxn id="14" idx="2"/>
          </p:cNvCxnSpPr>
          <p:nvPr/>
        </p:nvCxnSpPr>
        <p:spPr>
          <a:xfrm flipV="1">
            <a:off x="5989163" y="3683524"/>
            <a:ext cx="0" cy="999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Verbinder: gewinkelt 40">
            <a:extLst>
              <a:ext uri="{FF2B5EF4-FFF2-40B4-BE49-F238E27FC236}">
                <a16:creationId xmlns:a16="http://schemas.microsoft.com/office/drawing/2014/main" id="{D69F28E3-CE21-4965-AAB0-28EC4C802745}"/>
              </a:ext>
            </a:extLst>
          </p:cNvPr>
          <p:cNvCxnSpPr>
            <a:stCxn id="6" idx="2"/>
            <a:endCxn id="7" idx="1"/>
          </p:cNvCxnSpPr>
          <p:nvPr/>
        </p:nvCxnSpPr>
        <p:spPr>
          <a:xfrm rot="16200000" flipH="1">
            <a:off x="3204329" y="3432928"/>
            <a:ext cx="1456441" cy="19576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Verbinder: gewinkelt 42">
            <a:extLst>
              <a:ext uri="{FF2B5EF4-FFF2-40B4-BE49-F238E27FC236}">
                <a16:creationId xmlns:a16="http://schemas.microsoft.com/office/drawing/2014/main" id="{82DE420C-C7A5-494D-988A-8F8A68F8AFAA}"/>
              </a:ext>
            </a:extLst>
          </p:cNvPr>
          <p:cNvCxnSpPr>
            <a:stCxn id="17" idx="1"/>
            <a:endCxn id="6" idx="0"/>
          </p:cNvCxnSpPr>
          <p:nvPr/>
        </p:nvCxnSpPr>
        <p:spPr>
          <a:xfrm rot="10800000" flipV="1">
            <a:off x="2953733" y="1397524"/>
            <a:ext cx="1957632" cy="13716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3ECDB618-BC29-44F8-A551-6767BA5E8803}"/>
              </a:ext>
            </a:extLst>
          </p:cNvPr>
          <p:cNvSpPr txBox="1"/>
          <p:nvPr/>
        </p:nvSpPr>
        <p:spPr>
          <a:xfrm>
            <a:off x="5989163" y="403618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accent5"/>
                </a:solidFill>
              </a:rPr>
              <a:t>no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0B7A8BCD-B03B-47AA-8942-A6CD73EFA2C6}"/>
              </a:ext>
            </a:extLst>
          </p:cNvPr>
          <p:cNvSpPr txBox="1"/>
          <p:nvPr/>
        </p:nvSpPr>
        <p:spPr>
          <a:xfrm>
            <a:off x="2953732" y="422085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accent4"/>
                </a:solidFill>
              </a:rPr>
              <a:t>yes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FDF87D5F-EB54-45A7-A620-7159348341EE}"/>
              </a:ext>
            </a:extLst>
          </p:cNvPr>
          <p:cNvSpPr txBox="1"/>
          <p:nvPr/>
        </p:nvSpPr>
        <p:spPr>
          <a:xfrm>
            <a:off x="7331092" y="477063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accent4"/>
                </a:solidFill>
              </a:rPr>
              <a:t>yes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2350DD2D-AEFB-4D80-BE5B-DE615543ABC3}"/>
              </a:ext>
            </a:extLst>
          </p:cNvPr>
          <p:cNvSpPr txBox="1"/>
          <p:nvPr/>
        </p:nvSpPr>
        <p:spPr>
          <a:xfrm>
            <a:off x="7348554" y="285699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accent4"/>
                </a:solidFill>
              </a:rPr>
              <a:t>yes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945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04807-F8FC-4B4F-93DD-E0AB8410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NPM </a:t>
            </a:r>
            <a:r>
              <a:rPr lang="de-DE" dirty="0" err="1"/>
              <a:t>Commands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B39855-155B-4577-AE26-C0F1782F1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400" b="1" dirty="0" err="1"/>
              <a:t>npm</a:t>
            </a:r>
            <a:r>
              <a:rPr lang="de-DE" sz="2400" b="1" dirty="0"/>
              <a:t> </a:t>
            </a:r>
            <a:r>
              <a:rPr lang="de-DE" sz="2400" b="1" dirty="0" err="1">
                <a:solidFill>
                  <a:schemeClr val="accent2"/>
                </a:solidFill>
              </a:rPr>
              <a:t>install</a:t>
            </a:r>
            <a:endParaRPr lang="de-DE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de-DE" sz="1900" dirty="0" err="1"/>
              <a:t>Installes</a:t>
            </a:r>
            <a:r>
              <a:rPr lang="de-DE" sz="1900" dirty="0"/>
              <a:t> all </a:t>
            </a:r>
            <a:r>
              <a:rPr lang="de-DE" sz="1900" dirty="0" err="1"/>
              <a:t>dependencies</a:t>
            </a:r>
            <a:r>
              <a:rPr lang="de-DE" sz="1900" dirty="0"/>
              <a:t> </a:t>
            </a:r>
            <a:r>
              <a:rPr lang="de-DE" sz="1900" dirty="0" err="1"/>
              <a:t>which</a:t>
            </a:r>
            <a:r>
              <a:rPr lang="de-DE" sz="1900" dirty="0"/>
              <a:t> </a:t>
            </a:r>
            <a:r>
              <a:rPr lang="de-DE" sz="1900" dirty="0" err="1"/>
              <a:t>are</a:t>
            </a:r>
            <a:r>
              <a:rPr lang="de-DE" sz="1900" dirty="0"/>
              <a:t> not </a:t>
            </a:r>
            <a:r>
              <a:rPr lang="de-DE" sz="1900" dirty="0" err="1"/>
              <a:t>currently</a:t>
            </a:r>
            <a:r>
              <a:rPr lang="de-DE" sz="1900" dirty="0"/>
              <a:t> </a:t>
            </a:r>
            <a:r>
              <a:rPr lang="de-DE" sz="1900" dirty="0" err="1"/>
              <a:t>present</a:t>
            </a:r>
            <a:r>
              <a:rPr lang="de-DE" sz="1900" dirty="0"/>
              <a:t> but </a:t>
            </a:r>
            <a:r>
              <a:rPr lang="de-DE" sz="1900" dirty="0" err="1"/>
              <a:t>defined</a:t>
            </a:r>
            <a:r>
              <a:rPr lang="de-DE" sz="1900" dirty="0"/>
              <a:t> in </a:t>
            </a:r>
            <a:r>
              <a:rPr lang="de-DE" sz="1900" dirty="0" err="1"/>
              <a:t>the</a:t>
            </a:r>
            <a:r>
              <a:rPr lang="de-DE" sz="1900" dirty="0"/>
              <a:t> </a:t>
            </a:r>
            <a:r>
              <a:rPr lang="de-DE" sz="1900" dirty="0" err="1"/>
              <a:t>package.json</a:t>
            </a:r>
            <a:r>
              <a:rPr lang="de-DE" sz="1900" dirty="0"/>
              <a:t> and </a:t>
            </a:r>
            <a:r>
              <a:rPr lang="de-DE" sz="1900" dirty="0" err="1"/>
              <a:t>replaces</a:t>
            </a:r>
            <a:r>
              <a:rPr lang="de-DE" sz="1900" dirty="0"/>
              <a:t> all </a:t>
            </a:r>
            <a:r>
              <a:rPr lang="de-DE" sz="1900" dirty="0" err="1"/>
              <a:t>dependencies</a:t>
            </a:r>
            <a:r>
              <a:rPr lang="de-DE" sz="1900" dirty="0"/>
              <a:t> </a:t>
            </a:r>
            <a:r>
              <a:rPr lang="de-DE" sz="1900" dirty="0" err="1"/>
              <a:t>that</a:t>
            </a:r>
            <a:r>
              <a:rPr lang="de-DE" sz="1900" dirty="0"/>
              <a:t> </a:t>
            </a:r>
            <a:r>
              <a:rPr lang="de-DE" sz="1900" dirty="0" err="1"/>
              <a:t>are</a:t>
            </a:r>
            <a:r>
              <a:rPr lang="de-DE" sz="1900" dirty="0"/>
              <a:t> not </a:t>
            </a:r>
            <a:r>
              <a:rPr lang="de-DE" sz="1900" dirty="0" err="1"/>
              <a:t>compatible</a:t>
            </a:r>
            <a:r>
              <a:rPr lang="de-DE" sz="1900" dirty="0"/>
              <a:t> </a:t>
            </a:r>
            <a:r>
              <a:rPr lang="de-DE" sz="1900" dirty="0" err="1"/>
              <a:t>with</a:t>
            </a:r>
            <a:r>
              <a:rPr lang="de-DE" sz="1900" dirty="0"/>
              <a:t> </a:t>
            </a:r>
            <a:r>
              <a:rPr lang="de-DE" sz="1900" dirty="0" err="1"/>
              <a:t>the</a:t>
            </a:r>
            <a:r>
              <a:rPr lang="de-DE" sz="1900" dirty="0"/>
              <a:t> </a:t>
            </a:r>
            <a:r>
              <a:rPr lang="de-DE" sz="1900" dirty="0" err="1"/>
              <a:t>version</a:t>
            </a:r>
            <a:r>
              <a:rPr lang="de-DE" sz="1900" dirty="0"/>
              <a:t> </a:t>
            </a:r>
            <a:r>
              <a:rPr lang="de-DE" sz="1900" dirty="0" err="1"/>
              <a:t>defined</a:t>
            </a:r>
            <a:r>
              <a:rPr lang="de-DE" sz="1900" dirty="0"/>
              <a:t> in </a:t>
            </a:r>
            <a:r>
              <a:rPr lang="de-DE" sz="1900" dirty="0" err="1"/>
              <a:t>the</a:t>
            </a:r>
            <a:r>
              <a:rPr lang="de-DE" sz="1900" dirty="0"/>
              <a:t> </a:t>
            </a:r>
            <a:r>
              <a:rPr lang="de-DE" sz="1900" dirty="0" err="1"/>
              <a:t>package.json</a:t>
            </a:r>
            <a:r>
              <a:rPr lang="de-DE" sz="1900" dirty="0"/>
              <a:t>.</a:t>
            </a:r>
            <a:endParaRPr lang="de-DE" sz="2600" dirty="0"/>
          </a:p>
          <a:p>
            <a:pPr marL="0" indent="0">
              <a:buNone/>
            </a:pPr>
            <a:endParaRPr lang="de-DE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de-DE" sz="2400" b="1" dirty="0" err="1"/>
              <a:t>npm</a:t>
            </a:r>
            <a:r>
              <a:rPr lang="de-DE" sz="2400" b="1" dirty="0"/>
              <a:t> </a:t>
            </a:r>
            <a:r>
              <a:rPr lang="de-DE" sz="2400" b="1" dirty="0">
                <a:solidFill>
                  <a:schemeClr val="accent2"/>
                </a:solidFill>
              </a:rPr>
              <a:t>update</a:t>
            </a:r>
            <a:endParaRPr lang="de-DE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de-DE" sz="1900" dirty="0" err="1"/>
              <a:t>Does</a:t>
            </a:r>
            <a:r>
              <a:rPr lang="de-DE" sz="1900" dirty="0"/>
              <a:t> </a:t>
            </a:r>
            <a:r>
              <a:rPr lang="de-DE" sz="1900" dirty="0" err="1"/>
              <a:t>everything</a:t>
            </a:r>
            <a:r>
              <a:rPr lang="de-DE" sz="1900" dirty="0"/>
              <a:t> </a:t>
            </a:r>
            <a:r>
              <a:rPr lang="de-DE" sz="1900" dirty="0" err="1"/>
              <a:t>install</a:t>
            </a:r>
            <a:r>
              <a:rPr lang="de-DE" sz="1900" dirty="0"/>
              <a:t> </a:t>
            </a:r>
            <a:r>
              <a:rPr lang="de-DE" sz="1900" dirty="0" err="1"/>
              <a:t>does</a:t>
            </a:r>
            <a:r>
              <a:rPr lang="de-DE" sz="1900" dirty="0"/>
              <a:t> but also </a:t>
            </a:r>
            <a:r>
              <a:rPr lang="de-DE" sz="1900" dirty="0" err="1"/>
              <a:t>updates</a:t>
            </a:r>
            <a:r>
              <a:rPr lang="de-DE" sz="1900" dirty="0"/>
              <a:t> </a:t>
            </a:r>
            <a:r>
              <a:rPr lang="de-DE" sz="1900" dirty="0" err="1"/>
              <a:t>existing</a:t>
            </a:r>
            <a:r>
              <a:rPr lang="de-DE" sz="1900" dirty="0"/>
              <a:t> </a:t>
            </a:r>
            <a:r>
              <a:rPr lang="de-DE" sz="1900" dirty="0" err="1"/>
              <a:t>dependencies</a:t>
            </a:r>
            <a:r>
              <a:rPr lang="de-DE" sz="1900" dirty="0"/>
              <a:t> </a:t>
            </a:r>
            <a:r>
              <a:rPr lang="de-DE" sz="1900" dirty="0" err="1"/>
              <a:t>to</a:t>
            </a:r>
            <a:r>
              <a:rPr lang="de-DE" sz="1900" dirty="0"/>
              <a:t> </a:t>
            </a:r>
            <a:r>
              <a:rPr lang="de-DE" sz="1900" dirty="0" err="1"/>
              <a:t>their</a:t>
            </a:r>
            <a:r>
              <a:rPr lang="de-DE" sz="1900" dirty="0"/>
              <a:t> </a:t>
            </a:r>
            <a:r>
              <a:rPr lang="de-DE" sz="1900" dirty="0" err="1"/>
              <a:t>highest</a:t>
            </a:r>
            <a:r>
              <a:rPr lang="de-DE" sz="1900" dirty="0"/>
              <a:t> </a:t>
            </a:r>
            <a:r>
              <a:rPr lang="de-DE" sz="1900" dirty="0" err="1"/>
              <a:t>compatible</a:t>
            </a:r>
            <a:r>
              <a:rPr lang="de-DE" sz="1900" dirty="0"/>
              <a:t> </a:t>
            </a:r>
            <a:r>
              <a:rPr lang="de-DE" sz="1900" dirty="0" err="1"/>
              <a:t>version</a:t>
            </a:r>
            <a:r>
              <a:rPr lang="de-DE" sz="1900" dirty="0"/>
              <a:t>.</a:t>
            </a:r>
            <a:endParaRPr lang="de-DE" sz="2600" dirty="0"/>
          </a:p>
          <a:p>
            <a:pPr marL="0" indent="0">
              <a:buNone/>
            </a:pPr>
            <a:endParaRPr lang="de-DE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de-DE" sz="2400" b="1" dirty="0" err="1"/>
              <a:t>npm</a:t>
            </a:r>
            <a:r>
              <a:rPr lang="de-DE" sz="2400" b="1" dirty="0"/>
              <a:t> </a:t>
            </a:r>
            <a:r>
              <a:rPr lang="de-DE" sz="2400" b="1" dirty="0">
                <a:solidFill>
                  <a:schemeClr val="accent2"/>
                </a:solidFill>
              </a:rPr>
              <a:t>ci</a:t>
            </a:r>
            <a:endParaRPr lang="de-DE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de-DE" sz="1900" dirty="0" err="1"/>
              <a:t>Requires</a:t>
            </a:r>
            <a:r>
              <a:rPr lang="de-DE" sz="1900" dirty="0"/>
              <a:t> a </a:t>
            </a:r>
            <a:r>
              <a:rPr lang="de-DE" sz="1900" dirty="0" err="1"/>
              <a:t>package-lock.json</a:t>
            </a:r>
            <a:r>
              <a:rPr lang="de-DE" sz="1900" dirty="0"/>
              <a:t> </a:t>
            </a:r>
            <a:r>
              <a:rPr lang="de-DE" sz="1900" dirty="0" err="1"/>
              <a:t>to</a:t>
            </a:r>
            <a:r>
              <a:rPr lang="de-DE" sz="1900" dirty="0"/>
              <a:t> </a:t>
            </a:r>
            <a:r>
              <a:rPr lang="de-DE" sz="1900" dirty="0" err="1"/>
              <a:t>be</a:t>
            </a:r>
            <a:r>
              <a:rPr lang="de-DE" sz="1900" dirty="0"/>
              <a:t> </a:t>
            </a:r>
            <a:r>
              <a:rPr lang="de-DE" sz="1900" dirty="0" err="1"/>
              <a:t>present</a:t>
            </a:r>
            <a:r>
              <a:rPr lang="de-DE" sz="1900" dirty="0"/>
              <a:t> and </a:t>
            </a:r>
            <a:r>
              <a:rPr lang="de-DE" sz="1900" dirty="0" err="1"/>
              <a:t>installs</a:t>
            </a:r>
            <a:r>
              <a:rPr lang="de-DE" sz="1900" dirty="0"/>
              <a:t> all </a:t>
            </a:r>
            <a:r>
              <a:rPr lang="de-DE" sz="1900" dirty="0" err="1"/>
              <a:t>dependencies</a:t>
            </a:r>
            <a:r>
              <a:rPr lang="de-DE" sz="1900" dirty="0"/>
              <a:t> </a:t>
            </a:r>
            <a:r>
              <a:rPr lang="de-DE" sz="1900" dirty="0" err="1"/>
              <a:t>defined</a:t>
            </a:r>
            <a:r>
              <a:rPr lang="de-DE" sz="1900" dirty="0"/>
              <a:t> in it. </a:t>
            </a:r>
            <a:r>
              <a:rPr lang="de-DE" sz="1900" dirty="0" err="1"/>
              <a:t>It</a:t>
            </a:r>
            <a:r>
              <a:rPr lang="de-DE" sz="1900" dirty="0"/>
              <a:t> </a:t>
            </a:r>
            <a:r>
              <a:rPr lang="de-DE" sz="1900" dirty="0" err="1"/>
              <a:t>does</a:t>
            </a:r>
            <a:r>
              <a:rPr lang="de-DE" sz="1900" dirty="0"/>
              <a:t> not </a:t>
            </a:r>
            <a:r>
              <a:rPr lang="de-DE" sz="1900" dirty="0" err="1"/>
              <a:t>use</a:t>
            </a:r>
            <a:r>
              <a:rPr lang="de-DE" sz="1900" dirty="0"/>
              <a:t> </a:t>
            </a:r>
            <a:r>
              <a:rPr lang="de-DE" sz="1900" dirty="0" err="1"/>
              <a:t>the</a:t>
            </a:r>
            <a:r>
              <a:rPr lang="de-DE" sz="1900" dirty="0"/>
              <a:t> </a:t>
            </a:r>
            <a:r>
              <a:rPr lang="de-DE" sz="1900" dirty="0" err="1"/>
              <a:t>package.json</a:t>
            </a:r>
            <a:r>
              <a:rPr lang="de-DE" sz="1900" dirty="0"/>
              <a:t> </a:t>
            </a:r>
            <a:r>
              <a:rPr lang="de-DE" sz="1900" dirty="0" err="1"/>
              <a:t>to</a:t>
            </a:r>
            <a:r>
              <a:rPr lang="de-DE" sz="1900" dirty="0"/>
              <a:t> </a:t>
            </a:r>
            <a:r>
              <a:rPr lang="de-DE" sz="1900" dirty="0" err="1"/>
              <a:t>resolve</a:t>
            </a:r>
            <a:r>
              <a:rPr lang="de-DE" sz="1900" dirty="0"/>
              <a:t> </a:t>
            </a:r>
            <a:r>
              <a:rPr lang="de-DE" sz="1900" dirty="0" err="1"/>
              <a:t>versions</a:t>
            </a:r>
            <a:r>
              <a:rPr lang="de-DE" sz="1900" dirty="0"/>
              <a:t>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966725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9F06AB-DC82-4CDD-AD54-B3E25B6E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package</a:t>
            </a:r>
            <a:r>
              <a:rPr lang="de-DE" dirty="0"/>
              <a:t>-lock</a:t>
            </a:r>
            <a:endParaRPr lang="en-US" dirty="0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9AEDA47-7D97-4963-AE69-C27771DD0AC9}"/>
              </a:ext>
            </a:extLst>
          </p:cNvPr>
          <p:cNvCxnSpPr/>
          <p:nvPr/>
        </p:nvCxnSpPr>
        <p:spPr>
          <a:xfrm>
            <a:off x="707010" y="5665509"/>
            <a:ext cx="106467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Grafik 6" descr="Laptop Silhouette">
            <a:extLst>
              <a:ext uri="{FF2B5EF4-FFF2-40B4-BE49-F238E27FC236}">
                <a16:creationId xmlns:a16="http://schemas.microsoft.com/office/drawing/2014/main" id="{61DBFE38-6E78-4642-9E7F-4C09EF6AF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010" y="3961615"/>
            <a:ext cx="914400" cy="9144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C0DFC24-C9E8-4323-B2DB-8BC2DE7C5488}"/>
              </a:ext>
            </a:extLst>
          </p:cNvPr>
          <p:cNvSpPr txBox="1"/>
          <p:nvPr/>
        </p:nvSpPr>
        <p:spPr>
          <a:xfrm>
            <a:off x="609595" y="4785479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^1.0.0</a:t>
            </a:r>
          </a:p>
          <a:p>
            <a:r>
              <a:rPr lang="de-DE" dirty="0"/>
              <a:t> 1.0.0</a:t>
            </a:r>
            <a:endParaRPr lang="en-US" dirty="0"/>
          </a:p>
        </p:txBody>
      </p:sp>
      <p:pic>
        <p:nvPicPr>
          <p:cNvPr id="11" name="Grafik 10" descr="Laptop Silhouette">
            <a:extLst>
              <a:ext uri="{FF2B5EF4-FFF2-40B4-BE49-F238E27FC236}">
                <a16:creationId xmlns:a16="http://schemas.microsoft.com/office/drawing/2014/main" id="{9CDF9558-202A-47E1-A392-511839864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672" y="2257721"/>
            <a:ext cx="914400" cy="91440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00DDB9AD-11E4-425E-8055-82E933583E47}"/>
              </a:ext>
            </a:extLst>
          </p:cNvPr>
          <p:cNvSpPr txBox="1"/>
          <p:nvPr/>
        </p:nvSpPr>
        <p:spPr>
          <a:xfrm>
            <a:off x="3175257" y="3076500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^1.0.0</a:t>
            </a:r>
          </a:p>
          <a:p>
            <a:r>
              <a:rPr lang="de-DE" dirty="0"/>
              <a:t> 1.1.0</a:t>
            </a:r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4DB1FED-76E1-444D-ADE5-81091B915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648" y="3137961"/>
            <a:ext cx="914400" cy="126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BDE1710-8745-45D3-A519-E2A4F6B1EA94}"/>
              </a:ext>
            </a:extLst>
          </p:cNvPr>
          <p:cNvSpPr txBox="1"/>
          <p:nvPr/>
        </p:nvSpPr>
        <p:spPr>
          <a:xfrm>
            <a:off x="9829019" y="3514175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^1.0.0</a:t>
            </a:r>
          </a:p>
          <a:p>
            <a:r>
              <a:rPr lang="de-DE" dirty="0"/>
              <a:t> 1.2.0</a:t>
            </a:r>
            <a:endParaRPr lang="en-US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CB467B1-E9DD-48DE-BE35-3457C46316C4}"/>
              </a:ext>
            </a:extLst>
          </p:cNvPr>
          <p:cNvSpPr txBox="1"/>
          <p:nvPr/>
        </p:nvSpPr>
        <p:spPr>
          <a:xfrm>
            <a:off x="707010" y="5851972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1.0.0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0A7E413-31DD-4E96-A8FC-ACAC9B25B9DE}"/>
              </a:ext>
            </a:extLst>
          </p:cNvPr>
          <p:cNvSpPr txBox="1"/>
          <p:nvPr/>
        </p:nvSpPr>
        <p:spPr>
          <a:xfrm>
            <a:off x="3272672" y="5851972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1.1.0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34443FAF-7E9D-47C0-8429-F0EC1D5B4670}"/>
              </a:ext>
            </a:extLst>
          </p:cNvPr>
          <p:cNvSpPr txBox="1"/>
          <p:nvPr/>
        </p:nvSpPr>
        <p:spPr>
          <a:xfrm>
            <a:off x="8790091" y="584768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1.2.0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5FF80699-4BC4-4F4C-8A7B-706AC23590D2}"/>
              </a:ext>
            </a:extLst>
          </p:cNvPr>
          <p:cNvCxnSpPr>
            <a:stCxn id="11" idx="3"/>
          </p:cNvCxnSpPr>
          <p:nvPr/>
        </p:nvCxnSpPr>
        <p:spPr>
          <a:xfrm>
            <a:off x="4187072" y="2714921"/>
            <a:ext cx="4363039" cy="10079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1846E937-87A0-4C46-80DC-C58437AD5585}"/>
              </a:ext>
            </a:extLst>
          </p:cNvPr>
          <p:cNvCxnSpPr>
            <a:stCxn id="7" idx="3"/>
          </p:cNvCxnSpPr>
          <p:nvPr/>
        </p:nvCxnSpPr>
        <p:spPr>
          <a:xfrm flipV="1">
            <a:off x="1621410" y="3961615"/>
            <a:ext cx="6928701" cy="457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995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9F06AB-DC82-4CDD-AD54-B3E25B6E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package</a:t>
            </a:r>
            <a:r>
              <a:rPr lang="de-DE" dirty="0"/>
              <a:t>-lock</a:t>
            </a:r>
            <a:endParaRPr lang="en-US" dirty="0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9AEDA47-7D97-4963-AE69-C27771DD0AC9}"/>
              </a:ext>
            </a:extLst>
          </p:cNvPr>
          <p:cNvCxnSpPr/>
          <p:nvPr/>
        </p:nvCxnSpPr>
        <p:spPr>
          <a:xfrm>
            <a:off x="707010" y="5665509"/>
            <a:ext cx="106467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Grafik 6" descr="Laptop Silhouette">
            <a:extLst>
              <a:ext uri="{FF2B5EF4-FFF2-40B4-BE49-F238E27FC236}">
                <a16:creationId xmlns:a16="http://schemas.microsoft.com/office/drawing/2014/main" id="{61DBFE38-6E78-4642-9E7F-4C09EF6AF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010" y="3961615"/>
            <a:ext cx="914400" cy="9144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C0DFC24-C9E8-4323-B2DB-8BC2DE7C5488}"/>
              </a:ext>
            </a:extLst>
          </p:cNvPr>
          <p:cNvSpPr txBox="1"/>
          <p:nvPr/>
        </p:nvSpPr>
        <p:spPr>
          <a:xfrm>
            <a:off x="609595" y="4785479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^1.0.0</a:t>
            </a:r>
          </a:p>
          <a:p>
            <a:r>
              <a:rPr lang="de-DE" dirty="0"/>
              <a:t> 1.0.0</a:t>
            </a:r>
            <a:endParaRPr lang="en-US" dirty="0"/>
          </a:p>
        </p:txBody>
      </p:sp>
      <p:pic>
        <p:nvPicPr>
          <p:cNvPr id="11" name="Grafik 10" descr="Laptop Silhouette">
            <a:extLst>
              <a:ext uri="{FF2B5EF4-FFF2-40B4-BE49-F238E27FC236}">
                <a16:creationId xmlns:a16="http://schemas.microsoft.com/office/drawing/2014/main" id="{9CDF9558-202A-47E1-A392-511839864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672" y="2257721"/>
            <a:ext cx="914400" cy="91440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00DDB9AD-11E4-425E-8055-82E933583E47}"/>
              </a:ext>
            </a:extLst>
          </p:cNvPr>
          <p:cNvSpPr txBox="1"/>
          <p:nvPr/>
        </p:nvSpPr>
        <p:spPr>
          <a:xfrm>
            <a:off x="3175257" y="3076500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^1.0.0</a:t>
            </a:r>
          </a:p>
          <a:p>
            <a:r>
              <a:rPr lang="de-DE" dirty="0"/>
              <a:t> 1.0.0</a:t>
            </a:r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4DB1FED-76E1-444D-ADE5-81091B915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648" y="3137961"/>
            <a:ext cx="914400" cy="126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BDE1710-8745-45D3-A519-E2A4F6B1EA94}"/>
              </a:ext>
            </a:extLst>
          </p:cNvPr>
          <p:cNvSpPr txBox="1"/>
          <p:nvPr/>
        </p:nvSpPr>
        <p:spPr>
          <a:xfrm>
            <a:off x="9829019" y="3514175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^1.1.0</a:t>
            </a:r>
          </a:p>
          <a:p>
            <a:r>
              <a:rPr lang="de-DE" dirty="0"/>
              <a:t> 1.0.0</a:t>
            </a:r>
            <a:endParaRPr lang="en-US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CB467B1-E9DD-48DE-BE35-3457C46316C4}"/>
              </a:ext>
            </a:extLst>
          </p:cNvPr>
          <p:cNvSpPr txBox="1"/>
          <p:nvPr/>
        </p:nvSpPr>
        <p:spPr>
          <a:xfrm>
            <a:off x="707010" y="5851972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1.0.0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0A7E413-31DD-4E96-A8FC-ACAC9B25B9DE}"/>
              </a:ext>
            </a:extLst>
          </p:cNvPr>
          <p:cNvSpPr txBox="1"/>
          <p:nvPr/>
        </p:nvSpPr>
        <p:spPr>
          <a:xfrm>
            <a:off x="3272672" y="5851972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1.1.0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34443FAF-7E9D-47C0-8429-F0EC1D5B4670}"/>
              </a:ext>
            </a:extLst>
          </p:cNvPr>
          <p:cNvSpPr txBox="1"/>
          <p:nvPr/>
        </p:nvSpPr>
        <p:spPr>
          <a:xfrm>
            <a:off x="8790091" y="584768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1.2.0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5FF80699-4BC4-4F4C-8A7B-706AC23590D2}"/>
              </a:ext>
            </a:extLst>
          </p:cNvPr>
          <p:cNvCxnSpPr>
            <a:stCxn id="11" idx="3"/>
          </p:cNvCxnSpPr>
          <p:nvPr/>
        </p:nvCxnSpPr>
        <p:spPr>
          <a:xfrm>
            <a:off x="4187072" y="2714921"/>
            <a:ext cx="4363039" cy="10079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1846E937-87A0-4C46-80DC-C58437AD5585}"/>
              </a:ext>
            </a:extLst>
          </p:cNvPr>
          <p:cNvCxnSpPr>
            <a:stCxn id="7" idx="3"/>
          </p:cNvCxnSpPr>
          <p:nvPr/>
        </p:nvCxnSpPr>
        <p:spPr>
          <a:xfrm flipV="1">
            <a:off x="1621410" y="3961615"/>
            <a:ext cx="6928701" cy="457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507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7FB923-B30C-41D2-960C-A69238391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Updating</a:t>
            </a:r>
            <a:r>
              <a:rPr lang="de-DE" dirty="0"/>
              <a:t> </a:t>
            </a:r>
            <a:r>
              <a:rPr lang="de-DE" dirty="0" err="1"/>
              <a:t>package</a:t>
            </a:r>
            <a:r>
              <a:rPr lang="de-DE" dirty="0"/>
              <a:t>-lock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25A380-C886-48C4-A26C-170624F03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0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Atom Theme">
      <a:dk1>
        <a:srgbClr val="ABB2BF"/>
      </a:dk1>
      <a:lt1>
        <a:srgbClr val="000000"/>
      </a:lt1>
      <a:dk2>
        <a:srgbClr val="44546A"/>
      </a:dk2>
      <a:lt2>
        <a:srgbClr val="E7E6E6"/>
      </a:lt2>
      <a:accent1>
        <a:srgbClr val="FF8C00"/>
      </a:accent1>
      <a:accent2>
        <a:srgbClr val="C678DD"/>
      </a:accent2>
      <a:accent3>
        <a:srgbClr val="61AFEF"/>
      </a:accent3>
      <a:accent4>
        <a:srgbClr val="98C379"/>
      </a:accent4>
      <a:accent5>
        <a:srgbClr val="E06C75"/>
      </a:accent5>
      <a:accent6>
        <a:srgbClr val="E5C07B"/>
      </a:accent6>
      <a:hlink>
        <a:srgbClr val="FF8C00"/>
      </a:hlink>
      <a:folHlink>
        <a:srgbClr val="FF8C00"/>
      </a:folHlink>
    </a:clrScheme>
    <a:fontScheme name="Benutzerdefiniert 1">
      <a:majorFont>
        <a:latin typeface="JetBrains Mono"/>
        <a:ea typeface=""/>
        <a:cs typeface=""/>
      </a:majorFont>
      <a:minorFont>
        <a:latin typeface="JetBrains Mon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</Words>
  <Application>Microsoft Office PowerPoint</Application>
  <PresentationFormat>Breitbild</PresentationFormat>
  <Paragraphs>118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6" baseType="lpstr">
      <vt:lpstr>JetBrains Mono</vt:lpstr>
      <vt:lpstr>Arial</vt:lpstr>
      <vt:lpstr>Office</vt:lpstr>
      <vt:lpstr>Module Resolution</vt:lpstr>
      <vt:lpstr>The package.json</vt:lpstr>
      <vt:lpstr>Dependency Types</vt:lpstr>
      <vt:lpstr>PowerPoint-Präsentation</vt:lpstr>
      <vt:lpstr>PowerPoint-Präsentation</vt:lpstr>
      <vt:lpstr>PowerPoint-Präsentation</vt:lpstr>
      <vt:lpstr>PowerPoint-Präsentation</vt:lpstr>
      <vt:lpstr>Introducing semver</vt:lpstr>
      <vt:lpstr>Introducing semver</vt:lpstr>
      <vt:lpstr>PowerPoint-Präsentation</vt:lpstr>
      <vt:lpstr>Examples</vt:lpstr>
      <vt:lpstr>Examples</vt:lpstr>
      <vt:lpstr>Examples</vt:lpstr>
      <vt:lpstr>Examples</vt:lpstr>
      <vt:lpstr>Examples</vt:lpstr>
      <vt:lpstr>Module resolution</vt:lpstr>
      <vt:lpstr>Module resolution</vt:lpstr>
      <vt:lpstr>Module resolution</vt:lpstr>
      <vt:lpstr>PowerPoint-Präsentation</vt:lpstr>
      <vt:lpstr>NPM Commands</vt:lpstr>
      <vt:lpstr>Without package-lock</vt:lpstr>
      <vt:lpstr>With package-lock</vt:lpstr>
      <vt:lpstr>Updating package-lock</vt:lpstr>
    </vt:vector>
  </TitlesOfParts>
  <Company>Interhyp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Häring, Yannik</dc:creator>
  <cp:lastModifiedBy>Yannik Häring</cp:lastModifiedBy>
  <cp:revision>70</cp:revision>
  <dcterms:created xsi:type="dcterms:W3CDTF">2021-01-13T09:50:08Z</dcterms:created>
  <dcterms:modified xsi:type="dcterms:W3CDTF">2021-01-15T06:51:24Z</dcterms:modified>
</cp:coreProperties>
</file>